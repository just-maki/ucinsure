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194560" y="265176"/>
            <a:ext cx="2926080" cy="475488"/>
          </a:xfrm>
          <a:prstGeom prst="roundRect">
            <a:avLst/>
          </a:prstGeom>
          <a:solidFill>
            <a:srgbClr val="D6E8FF"/>
          </a:solidFill>
          <a:ln w="1270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222222"/>
                </a:solidFill>
              </a:rPr>
              <a:t>👤  User / Analyst</a:t>
            </a:r>
          </a:p>
        </p:txBody>
      </p:sp>
      <p:sp>
        <p:nvSpPr>
          <p:cNvPr id="3" name="Diamond 2"/>
          <p:cNvSpPr/>
          <p:nvPr/>
        </p:nvSpPr>
        <p:spPr>
          <a:xfrm>
            <a:off x="2926080" y="950976"/>
            <a:ext cx="1463040" cy="566928"/>
          </a:xfrm>
          <a:prstGeom prst="diamond">
            <a:avLst/>
          </a:prstGeom>
          <a:solidFill>
            <a:srgbClr val="FFF0CC"/>
          </a:solidFill>
          <a:ln w="1270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222222"/>
                </a:solidFill>
              </a:rPr>
              <a:t>Data  Source?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194560" y="1728216"/>
            <a:ext cx="2926080" cy="475488"/>
          </a:xfrm>
          <a:prstGeom prst="roundRect">
            <a:avLst/>
          </a:prstGeom>
          <a:solidFill>
            <a:srgbClr val="EEEEEE"/>
          </a:solidFill>
          <a:ln w="1270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22222"/>
                </a:solidFill>
              </a:rPr>
              <a:t>Data Ingestion
Upload  ·  Refresh  ·  Manual Entry</a:t>
            </a:r>
          </a:p>
        </p:txBody>
      </p:sp>
      <p:sp>
        <p:nvSpPr>
          <p:cNvPr id="5" name="Diamond 4"/>
          <p:cNvSpPr/>
          <p:nvPr/>
        </p:nvSpPr>
        <p:spPr>
          <a:xfrm>
            <a:off x="2926080" y="2414016"/>
            <a:ext cx="1463040" cy="566928"/>
          </a:xfrm>
          <a:prstGeom prst="diamond">
            <a:avLst/>
          </a:prstGeom>
          <a:solidFill>
            <a:srgbClr val="FFF0CC"/>
          </a:solidFill>
          <a:ln w="1270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222222"/>
                </a:solidFill>
              </a:rPr>
              <a:t>Valid?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2459736"/>
            <a:ext cx="1828800" cy="475488"/>
          </a:xfrm>
          <a:prstGeom prst="roundRect">
            <a:avLst/>
          </a:prstGeom>
          <a:solidFill>
            <a:srgbClr val="FFD9D9"/>
          </a:solidFill>
          <a:ln w="1270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222222"/>
                </a:solidFill>
              </a:rPr>
              <a:t>⚠  Validation Error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94560" y="3191256"/>
            <a:ext cx="2926080" cy="475488"/>
          </a:xfrm>
          <a:prstGeom prst="roundRect">
            <a:avLst/>
          </a:prstGeom>
          <a:solidFill>
            <a:srgbClr val="EEEEEE"/>
          </a:solidFill>
          <a:ln w="1270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22222"/>
                </a:solidFill>
              </a:rPr>
              <a:t>Preprocessing &amp; Feature Engineering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94560" y="3922776"/>
            <a:ext cx="2926080" cy="475488"/>
          </a:xfrm>
          <a:prstGeom prst="roundRect">
            <a:avLst/>
          </a:prstGeom>
          <a:solidFill>
            <a:srgbClr val="EEEEEE"/>
          </a:solidFill>
          <a:ln w="1270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22222"/>
                </a:solidFill>
              </a:rPr>
              <a:t>Model Training
Random Forest  ·  Mean Score  ·  Frequency</a:t>
            </a:r>
          </a:p>
        </p:txBody>
      </p:sp>
      <p:sp>
        <p:nvSpPr>
          <p:cNvPr id="9" name="Diamond 8"/>
          <p:cNvSpPr/>
          <p:nvPr/>
        </p:nvSpPr>
        <p:spPr>
          <a:xfrm>
            <a:off x="2926080" y="4608576"/>
            <a:ext cx="1463040" cy="566928"/>
          </a:xfrm>
          <a:prstGeom prst="diamond">
            <a:avLst/>
          </a:prstGeom>
          <a:solidFill>
            <a:srgbClr val="FFF0CC"/>
          </a:solidFill>
          <a:ln w="1270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222222"/>
                </a:solidFill>
              </a:rPr>
              <a:t>Select  Model?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4654296"/>
            <a:ext cx="1828800" cy="475488"/>
          </a:xfrm>
          <a:prstGeom prst="roundRect">
            <a:avLst/>
          </a:prstGeom>
          <a:solidFill>
            <a:srgbClr val="EEEEEE"/>
          </a:solidFill>
          <a:ln w="1270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222222"/>
                </a:solidFill>
              </a:rPr>
              <a:t>Metrics Review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194560" y="5349240"/>
            <a:ext cx="2926080" cy="548640"/>
          </a:xfrm>
          <a:prstGeom prst="roundRect">
            <a:avLst/>
          </a:prstGeom>
          <a:solidFill>
            <a:srgbClr val="D0F5E4"/>
          </a:solidFill>
          <a:ln w="1270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222222"/>
                </a:solidFill>
              </a:rPr>
              <a:t>🎯  Risk Prediction
Low  ·  Medium  ·  High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417319" y="6117336"/>
            <a:ext cx="1371600" cy="475488"/>
          </a:xfrm>
          <a:prstGeom prst="roundRect">
            <a:avLst/>
          </a:prstGeom>
          <a:solidFill>
            <a:srgbClr val="D0F5E4"/>
          </a:solidFill>
          <a:ln w="1270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222222"/>
                </a:solidFill>
              </a:rPr>
              <a:t>Explanation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71800" y="6117336"/>
            <a:ext cx="1371600" cy="475488"/>
          </a:xfrm>
          <a:prstGeom prst="roundRect">
            <a:avLst/>
          </a:prstGeom>
          <a:solidFill>
            <a:srgbClr val="D0F5E4"/>
          </a:solidFill>
          <a:ln w="1270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222222"/>
                </a:solidFill>
              </a:rPr>
              <a:t>Simulation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26280" y="6117336"/>
            <a:ext cx="1371600" cy="475488"/>
          </a:xfrm>
          <a:prstGeom prst="roundRect">
            <a:avLst/>
          </a:prstGeom>
          <a:solidFill>
            <a:srgbClr val="D0F5E4"/>
          </a:solidFill>
          <a:ln w="12700">
            <a:solidFill>
              <a:srgbClr val="55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222222"/>
                </a:solidFill>
              </a:rPr>
              <a:t>Report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657600" y="740664"/>
            <a:ext cx="0" cy="210312"/>
          </a:xfrm>
          <a:prstGeom prst="line">
            <a:avLst/>
          </a:prstGeom>
          <a:ln w="1651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3657600" y="1517904"/>
            <a:ext cx="0" cy="210312"/>
          </a:xfrm>
          <a:prstGeom prst="line">
            <a:avLst/>
          </a:prstGeom>
          <a:ln w="1651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657600" y="2203704"/>
            <a:ext cx="0" cy="210312"/>
          </a:xfrm>
          <a:prstGeom prst="line">
            <a:avLst/>
          </a:prstGeom>
          <a:ln w="1651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3657600" y="2980944"/>
            <a:ext cx="0" cy="210312"/>
          </a:xfrm>
          <a:prstGeom prst="line">
            <a:avLst/>
          </a:prstGeom>
          <a:ln w="1651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3566160" y="2958084"/>
            <a:ext cx="69494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555555"/>
                </a:solidFill>
              </a:rPr>
              <a:t>Yes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657600" y="3666744"/>
            <a:ext cx="0" cy="256032"/>
          </a:xfrm>
          <a:prstGeom prst="line">
            <a:avLst/>
          </a:prstGeom>
          <a:ln w="1651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3657600" y="4398264"/>
            <a:ext cx="0" cy="210312"/>
          </a:xfrm>
          <a:prstGeom prst="line">
            <a:avLst/>
          </a:prstGeom>
          <a:ln w="1651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3657600" y="5175504"/>
            <a:ext cx="0" cy="173736"/>
          </a:xfrm>
          <a:prstGeom prst="line">
            <a:avLst/>
          </a:prstGeom>
          <a:ln w="1651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584448" y="5134356"/>
            <a:ext cx="69494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555555"/>
                </a:solidFill>
              </a:rPr>
              <a:t>Auto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103120" y="5897880"/>
            <a:ext cx="0" cy="219456"/>
          </a:xfrm>
          <a:prstGeom prst="line">
            <a:avLst/>
          </a:prstGeom>
          <a:ln w="1651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657600" y="5897880"/>
            <a:ext cx="0" cy="219456"/>
          </a:xfrm>
          <a:prstGeom prst="line">
            <a:avLst/>
          </a:prstGeom>
          <a:ln w="1651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212080" y="5897880"/>
            <a:ext cx="0" cy="219456"/>
          </a:xfrm>
          <a:prstGeom prst="line">
            <a:avLst/>
          </a:prstGeom>
          <a:ln w="1651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389120" y="2697480"/>
            <a:ext cx="2103120" cy="0"/>
          </a:xfrm>
          <a:prstGeom prst="line">
            <a:avLst/>
          </a:prstGeom>
          <a:ln w="1651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093207" y="2414016"/>
            <a:ext cx="69494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555555"/>
                </a:solidFill>
              </a:rPr>
              <a:t>No</a:t>
            </a:r>
          </a:p>
        </p:txBody>
      </p:sp>
      <p:cxnSp>
        <p:nvCxnSpPr>
          <p:cNvPr id="29" name="Connector 28"/>
          <p:cNvCxnSpPr/>
          <p:nvPr/>
        </p:nvCxnSpPr>
        <p:spPr>
          <a:xfrm flipV="1">
            <a:off x="7406640" y="502920"/>
            <a:ext cx="0" cy="1956816"/>
          </a:xfrm>
          <a:prstGeom prst="line">
            <a:avLst/>
          </a:prstGeom>
          <a:ln w="1651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>
            <a:off x="5120640" y="502920"/>
            <a:ext cx="2286000" cy="0"/>
          </a:xfrm>
          <a:prstGeom prst="line">
            <a:avLst/>
          </a:prstGeom>
          <a:ln w="1651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7351775" y="1472184"/>
            <a:ext cx="69494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555555"/>
                </a:solidFill>
              </a:rPr>
              <a:t>retry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4389120" y="4892040"/>
            <a:ext cx="2103120" cy="0"/>
          </a:xfrm>
          <a:prstGeom prst="line">
            <a:avLst/>
          </a:prstGeom>
          <a:ln w="1651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5093207" y="4608576"/>
            <a:ext cx="694944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>
                <a:solidFill>
                  <a:srgbClr val="555555"/>
                </a:solidFill>
              </a:rPr>
              <a:t>Review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7406640" y="5129784"/>
            <a:ext cx="0" cy="493776"/>
          </a:xfrm>
          <a:prstGeom prst="line">
            <a:avLst/>
          </a:prstGeom>
          <a:ln w="1651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>
            <a:off x="5120640" y="5623560"/>
            <a:ext cx="2286000" cy="0"/>
          </a:xfrm>
          <a:prstGeom prst="line">
            <a:avLst/>
          </a:prstGeom>
          <a:ln w="16510">
            <a:solidFill>
              <a:srgbClr val="5555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6400800" y="365760"/>
            <a:ext cx="2560320" cy="6126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22222"/>
                </a:solidFill>
              </a:rPr>
              <a:t>UCInsure — Risk Prediction Pipeline</a:t>
            </a:r>
          </a:p>
          <a:p>
            <a:pPr algn="l">
              <a:spcBef>
                <a:spcPts val="800"/>
              </a:spcBef>
            </a:pPr>
            <a:r>
              <a:rPr sz="1100">
                <a:solidFill>
                  <a:srgbClr val="222222"/>
                </a:solidFill>
              </a:rPr>
              <a:t>•  Ingests NFIP claims data via upload, manual entry, or refresh</a:t>
            </a:r>
          </a:p>
          <a:p>
            <a:pPr algn="l">
              <a:spcBef>
                <a:spcPts val="800"/>
              </a:spcBef>
            </a:pPr>
            <a:r>
              <a:rPr sz="1100">
                <a:solidFill>
                  <a:srgbClr val="222222"/>
                </a:solidFill>
              </a:rPr>
              <a:t>•  Validates, preprocesses, and engineers features automatically</a:t>
            </a:r>
          </a:p>
          <a:p>
            <a:pPr algn="l">
              <a:spcBef>
                <a:spcPts val="800"/>
              </a:spcBef>
            </a:pPr>
            <a:r>
              <a:rPr sz="1100">
                <a:solidFill>
                  <a:srgbClr val="222222"/>
                </a:solidFill>
              </a:rPr>
              <a:t>•  Trains &amp; selects the best ML model (Random Forest, Mean Score, Frequency)</a:t>
            </a:r>
          </a:p>
          <a:p>
            <a:pPr algn="l">
              <a:spcBef>
                <a:spcPts val="800"/>
              </a:spcBef>
            </a:pPr>
            <a:r>
              <a:rPr sz="1100">
                <a:solidFill>
                  <a:srgbClr val="222222"/>
                </a:solidFill>
              </a:rPr>
              <a:t>•  Outputs Low / Medium / High risk with explanation &amp; simulation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